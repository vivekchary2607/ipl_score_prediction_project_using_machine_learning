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70" r:id="rId9"/>
    <p:sldId id="262" r:id="rId10"/>
    <p:sldId id="271" r:id="rId11"/>
    <p:sldId id="272" r:id="rId12"/>
    <p:sldId id="264" r:id="rId13"/>
    <p:sldId id="263" r:id="rId14"/>
    <p:sldId id="274" r:id="rId15"/>
    <p:sldId id="27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5ACE0-B751-47C3-B7C9-463C082B5617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EB261-2812-4DF6-B800-512838959B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43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EB261-2812-4DF6-B800-512838959B9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4685-D6F7-0FB2-6283-35A16CA7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E979F-769D-A6D4-0B50-0876783E9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1F0C7-A6E3-B2C1-F2EF-6BFF5894E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07B39-16B1-2F87-269A-C8CC9FBC6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EB261-2812-4DF6-B800-512838959B9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198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0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2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69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5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8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6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87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4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5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4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66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71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56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5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63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7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0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vivekchary26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vekchary2607/IPL_SCORE_PREDICTION_PROJECT_USING_MACHINE_LEARNING.gi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user_guide/index.html" TargetMode="External"/><Relationship Id="rId2" Type="http://schemas.openxmlformats.org/officeDocument/2006/relationships/hyperlink" Target="https://scikit-learn.org/stable/user_guid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plotlib.org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IPL SCORE PREDICTION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92679"/>
            <a:ext cx="5365572" cy="371450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800" b="1" dirty="0">
                <a:solidFill>
                  <a:schemeClr val="tx2">
                    <a:lumMod val="75000"/>
                  </a:schemeClr>
                </a:solidFill>
              </a:rPr>
              <a:t>Presented By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Student Name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G Vivek Chary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College Name</a:t>
            </a:r>
            <a:r>
              <a:rPr dirty="0"/>
              <a:t>: </a:t>
            </a:r>
            <a:r>
              <a:rPr lang="en-US" dirty="0">
                <a:solidFill>
                  <a:schemeClr val="tx1"/>
                </a:solidFill>
              </a:rPr>
              <a:t>Pallavi Engineering 					    	    College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Department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Computer Science And 				      		Engineering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Email ID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vivekchary26@gmail.com</a:t>
            </a:r>
            <a:endParaRPr lang="en-US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AICTE Student ID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>
                <a:solidFill>
                  <a:schemeClr val="tx1"/>
                </a:solidFill>
              </a:rPr>
              <a:t>STU65f40fe691e481710493670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91397E-EFAB-3CD4-80C1-847E78DEF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392679"/>
            <a:ext cx="3460432" cy="38481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A627C4-C46D-57B5-6C38-7E8417321F80}"/>
              </a:ext>
            </a:extLst>
          </p:cNvPr>
          <p:cNvSpPr/>
          <p:nvPr/>
        </p:nvSpPr>
        <p:spPr>
          <a:xfrm>
            <a:off x="5403126" y="2392679"/>
            <a:ext cx="3535540" cy="39577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EDCB8C-9818-CC74-D65D-B8E17405C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687" y="2447521"/>
            <a:ext cx="3372417" cy="38481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566" y="925605"/>
            <a:ext cx="6346078" cy="711359"/>
          </a:xfrm>
        </p:spPr>
        <p:txBody>
          <a:bodyPr/>
          <a:lstStyle/>
          <a:p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Project </a:t>
            </a:r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1"/>
                </a:solidFill>
              </a:rPr>
              <a:t>Proble</a:t>
            </a:r>
            <a:r>
              <a:rPr lang="en-US" dirty="0">
                <a:solidFill>
                  <a:schemeClr val="tx1"/>
                </a:solidFill>
              </a:rPr>
              <a:t>m </a:t>
            </a:r>
            <a:r>
              <a:rPr dirty="0">
                <a:solidFill>
                  <a:schemeClr val="tx1"/>
                </a:solidFill>
              </a:rPr>
              <a:t>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1"/>
                </a:solidFill>
              </a:rPr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1"/>
                </a:solidFill>
              </a:rPr>
              <a:t>System Development Approach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1"/>
                </a:solidFill>
              </a:rPr>
              <a:t>Algorithm &amp; Deployment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1"/>
                </a:solidFill>
              </a:rPr>
              <a:t>Result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1"/>
                </a:solidFill>
              </a:rPr>
              <a:t>Conclusion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Project Link</a:t>
            </a:r>
            <a:endParaRPr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1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564" y="2852258"/>
            <a:ext cx="7287658" cy="213919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tx1"/>
                </a:solidFill>
              </a:rPr>
              <a:t>The Indian Premier League (IPL) is a fast-paced cricket tournament where predicting the final score of a team</a:t>
            </a:r>
            <a:r>
              <a:rPr lang="en-US" dirty="0">
                <a:solidFill>
                  <a:schemeClr val="tx1"/>
                </a:solidFill>
              </a:rPr>
              <a:t> in</a:t>
            </a:r>
            <a:r>
              <a:rPr dirty="0">
                <a:solidFill>
                  <a:schemeClr val="tx1"/>
                </a:solidFill>
              </a:rPr>
              <a:t> mid-match can assist broadcasters, analysts, and fans. The challenge lies in accurately forecasting the final score based on the current match situation, including overs, wickets, and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149" y="2731995"/>
            <a:ext cx="7832942" cy="320802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Data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Gather historical IPL match statistics, player records, venue details, and weather conditions dataset.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Data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Clean and normalize the dataset to remove inconsistencies.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Encoding the categorical values into numerical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Perform feature engineering to extract key parameters affecting match scores.</a:t>
            </a:r>
          </a:p>
          <a:p>
            <a:pPr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5BF8-70DA-BA79-94B8-F52711B3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9589-795B-3B3F-241A-126946BB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7AE2A-9A9C-FB8C-90D8-E5AF35310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529" y="2636520"/>
            <a:ext cx="7832942" cy="336804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Machine Learning 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Implementing models like </a:t>
            </a:r>
            <a:r>
              <a:rPr lang="en-IN" sz="1600" b="1" dirty="0">
                <a:solidFill>
                  <a:schemeClr val="tx1"/>
                </a:solidFill>
              </a:rPr>
              <a:t>neural network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 models using past IPL matches and validate accuracy.</a:t>
            </a:r>
            <a:r>
              <a:rPr lang="en-IN" sz="1600" dirty="0">
                <a:solidFill>
                  <a:schemeClr val="tx1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Evaluation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Assess accuracy with </a:t>
            </a:r>
            <a:r>
              <a:rPr lang="en-US" sz="1600" b="1" dirty="0">
                <a:solidFill>
                  <a:schemeClr val="tx1"/>
                </a:solidFill>
              </a:rPr>
              <a:t>Mean Absolute Error (MAE) and Root Mean Squared Error (RMSE).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 predicted vs. actual scores.</a:t>
            </a:r>
          </a:p>
        </p:txBody>
      </p:sp>
    </p:spTree>
    <p:extLst>
      <p:ext uri="{BB962C8B-B14F-4D97-AF65-F5344CB8AC3E}">
        <p14:creationId xmlns:p14="http://schemas.microsoft.com/office/powerpoint/2010/main" val="2557632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System Development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206305"/>
            <a:ext cx="7572884" cy="4160939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600" b="1" dirty="0">
                <a:solidFill>
                  <a:schemeClr val="tx1"/>
                </a:solidFill>
              </a:rPr>
              <a:t>L</a:t>
            </a:r>
            <a:r>
              <a:rPr lang="en-US" sz="2600" b="1" dirty="0">
                <a:solidFill>
                  <a:schemeClr val="tx1"/>
                </a:solidFill>
              </a:rPr>
              <a:t>IBRARIES USED: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sz="2300" dirty="0">
                <a:solidFill>
                  <a:schemeClr val="tx1"/>
                </a:solidFill>
              </a:rPr>
              <a:t>pandas</a:t>
            </a:r>
            <a:endParaRPr lang="en-US" sz="23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300" dirty="0" err="1">
                <a:solidFill>
                  <a:schemeClr val="tx1"/>
                </a:solidFill>
              </a:rPr>
              <a:t>numpy</a:t>
            </a:r>
            <a:endParaRPr lang="en-US" sz="23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300" dirty="0">
                <a:solidFill>
                  <a:schemeClr val="tx1"/>
                </a:solidFill>
              </a:rPr>
              <a:t>matplotlib</a:t>
            </a:r>
            <a:endParaRPr lang="en-US" sz="23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300" dirty="0" err="1">
                <a:solidFill>
                  <a:schemeClr val="tx1"/>
                </a:solidFill>
              </a:rPr>
              <a:t>sklearn</a:t>
            </a:r>
            <a:r>
              <a:rPr sz="2300" dirty="0">
                <a:solidFill>
                  <a:schemeClr val="tx1"/>
                </a:solidFill>
              </a:rPr>
              <a:t> </a:t>
            </a:r>
            <a:endParaRPr lang="en-US" sz="23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300" dirty="0" err="1">
                <a:solidFill>
                  <a:schemeClr val="tx1"/>
                </a:solidFill>
              </a:rPr>
              <a:t>Keras</a:t>
            </a:r>
            <a:endParaRPr lang="en-US" sz="23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300" dirty="0" err="1">
                <a:solidFill>
                  <a:schemeClr val="tx1"/>
                </a:solidFill>
              </a:rPr>
              <a:t>Tensorflow</a:t>
            </a:r>
            <a:endParaRPr lang="en-US" sz="23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chemeClr val="tx1"/>
                </a:solidFill>
              </a:rPr>
              <a:t>seaborn</a:t>
            </a:r>
            <a:endParaRPr sz="23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2600" b="1" dirty="0">
                <a:solidFill>
                  <a:schemeClr val="tx1"/>
                </a:solidFill>
              </a:rPr>
              <a:t>Language</a:t>
            </a:r>
            <a:r>
              <a:rPr sz="2600" dirty="0">
                <a:solidFill>
                  <a:schemeClr val="tx1"/>
                </a:solidFill>
              </a:rPr>
              <a:t>: </a:t>
            </a:r>
            <a:r>
              <a:rPr sz="2300" dirty="0">
                <a:solidFill>
                  <a:schemeClr val="tx1"/>
                </a:solidFill>
              </a:rPr>
              <a:t>Python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600" b="1" dirty="0">
                <a:solidFill>
                  <a:schemeClr val="tx1"/>
                </a:solidFill>
              </a:rPr>
              <a:t>Tools:</a:t>
            </a:r>
            <a:r>
              <a:rPr sz="2600" dirty="0">
                <a:solidFill>
                  <a:schemeClr val="tx1"/>
                </a:solidFill>
              </a:rPr>
              <a:t> </a:t>
            </a:r>
            <a:r>
              <a:rPr lang="en-IN" sz="2300" dirty="0" err="1">
                <a:solidFill>
                  <a:schemeClr val="tx1"/>
                </a:solidFill>
              </a:rPr>
              <a:t>Jupyter</a:t>
            </a:r>
            <a:r>
              <a:rPr lang="en-IN" sz="2300" dirty="0">
                <a:solidFill>
                  <a:schemeClr val="tx1"/>
                </a:solidFill>
              </a:rPr>
              <a:t>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600" b="1" dirty="0">
                <a:solidFill>
                  <a:schemeClr val="tx1"/>
                </a:solidFill>
              </a:rPr>
              <a:t>Dataset</a:t>
            </a:r>
            <a:r>
              <a:rPr lang="en-IN" sz="2600" dirty="0">
                <a:solidFill>
                  <a:schemeClr val="tx1"/>
                </a:solidFill>
              </a:rPr>
              <a:t>: </a:t>
            </a:r>
            <a:r>
              <a:rPr lang="en-IN" sz="2300" dirty="0">
                <a:solidFill>
                  <a:schemeClr val="tx1"/>
                </a:solidFill>
              </a:rPr>
              <a:t>IPL matches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600" b="1" dirty="0">
                <a:solidFill>
                  <a:schemeClr val="tx1"/>
                </a:solidFill>
              </a:rPr>
              <a:t>Environment</a:t>
            </a:r>
            <a:r>
              <a:rPr lang="en-IN" sz="2600" dirty="0">
                <a:solidFill>
                  <a:schemeClr val="tx1"/>
                </a:solidFill>
              </a:rPr>
              <a:t>: </a:t>
            </a:r>
            <a:r>
              <a:rPr lang="en-IN" sz="2300" dirty="0">
                <a:solidFill>
                  <a:schemeClr val="tx1"/>
                </a:solidFill>
              </a:rPr>
              <a:t>Local development (</a:t>
            </a:r>
            <a:r>
              <a:rPr lang="en-IN" sz="2300" dirty="0" err="1">
                <a:solidFill>
                  <a:schemeClr val="tx1"/>
                </a:solidFill>
              </a:rPr>
              <a:t>Jupyter</a:t>
            </a:r>
            <a:r>
              <a:rPr lang="en-IN" sz="2300" dirty="0">
                <a:solidFill>
                  <a:schemeClr val="tx1"/>
                </a:solidFill>
              </a:rPr>
              <a:t> Notebook)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Algorithm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2374900"/>
            <a:ext cx="7772400" cy="407924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Algorithm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Artificial Neural Network (ANN)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More specifically, a </a:t>
            </a:r>
            <a:r>
              <a:rPr lang="en-US" sz="1600" b="1" dirty="0">
                <a:solidFill>
                  <a:schemeClr val="tx1"/>
                </a:solidFill>
              </a:rPr>
              <a:t>Deep Learning Model</a:t>
            </a:r>
            <a:r>
              <a:rPr lang="en-US" sz="1600" dirty="0">
                <a:solidFill>
                  <a:schemeClr val="tx1"/>
                </a:solidFill>
              </a:rPr>
              <a:t> with </a:t>
            </a:r>
            <a:r>
              <a:rPr lang="en-US" sz="1600" b="1" dirty="0">
                <a:solidFill>
                  <a:schemeClr val="tx1"/>
                </a:solidFill>
              </a:rPr>
              <a:t>Multiple Dense Layers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b="1" dirty="0">
                <a:solidFill>
                  <a:schemeClr val="tx1"/>
                </a:solidFill>
              </a:rPr>
              <a:t>Input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</a:rPr>
              <a:t>Batting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</a:rPr>
              <a:t>Bowling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</a:rPr>
              <a:t>Current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</a:rPr>
              <a:t>Overs Completed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</a:rPr>
              <a:t>Wickets Lost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</a:rPr>
              <a:t>Runs in Last 5 Overs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275FB-B116-D820-B8DC-D7595D92E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39408-BB3E-3AD3-BE65-3FC210D3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Algorithm &amp;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C395-3070-CB9C-B552-13BFEADC2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2641600"/>
            <a:ext cx="7772400" cy="2616200"/>
          </a:xfrm>
        </p:spPr>
        <p:txBody>
          <a:bodyPr>
            <a:noAutofit/>
          </a:bodyPr>
          <a:lstStyle/>
          <a:p>
            <a:pPr algn="l" rtl="0" eaLnBrk="1" latinLnBrk="0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</a:pPr>
            <a:r>
              <a:rPr lang="en-IN" sz="1800" b="1" i="0" kern="12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Training &amp; Testing :</a:t>
            </a:r>
            <a:endParaRPr lang="en-IN" sz="1800" b="1" dirty="0">
              <a:solidFill>
                <a:schemeClr val="tx1"/>
              </a:solidFill>
              <a:effectLst/>
            </a:endParaRPr>
          </a:p>
          <a:p>
            <a:pPr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600" b="0" i="0" kern="12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Train-test split (80-20)</a:t>
            </a:r>
            <a:endParaRPr lang="en-IN" sz="1600" dirty="0">
              <a:solidFill>
                <a:schemeClr val="tx1"/>
              </a:solidFill>
              <a:effectLst/>
            </a:endParaRPr>
          </a:p>
          <a:p>
            <a:pPr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600" b="0" i="0" kern="12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Model trained on historical data</a:t>
            </a:r>
            <a:endParaRPr lang="en-IN" sz="1600" dirty="0">
              <a:solidFill>
                <a:schemeClr val="tx1"/>
              </a:solidFill>
              <a:effectLst/>
            </a:endParaRPr>
          </a:p>
          <a:p>
            <a:pPr algn="l" rtl="0" eaLnBrk="1" latinLnBrk="0" hangingPunct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IN" sz="1800" b="1" i="0" kern="12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Deployment:</a:t>
            </a:r>
            <a:endParaRPr lang="en-IN" b="1" dirty="0">
              <a:solidFill>
                <a:schemeClr val="tx1"/>
              </a:solidFill>
              <a:effectLst/>
            </a:endParaRPr>
          </a:p>
          <a:p>
            <a:pPr algn="l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600" b="0" i="0" kern="12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Model can be deployed in a web app for real-time score prediction</a:t>
            </a:r>
            <a:endParaRPr lang="en-IN" sz="1600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89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247900"/>
            <a:ext cx="7660339" cy="409956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</a:rPr>
              <a:t>Mean Absolute Error and Mean Squared Error  are small that </a:t>
            </a:r>
            <a:r>
              <a:rPr sz="1600" dirty="0">
                <a:solidFill>
                  <a:schemeClr val="tx1"/>
                </a:solidFill>
              </a:rPr>
              <a:t>indicate good prediction accuracy</a:t>
            </a:r>
            <a:endParaRPr lang="en-US" sz="1600" dirty="0">
              <a:solidFill>
                <a:schemeClr val="tx1"/>
              </a:solidFill>
            </a:endParaRPr>
          </a:p>
          <a:p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9845C-3668-7261-E70F-F371F67B4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783" y="2865120"/>
            <a:ext cx="5266954" cy="34823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13138-BC36-3151-0BF5-91BA1A71C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B544F-4802-CD94-93BF-C2239C80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410D-D03F-C9CF-B00D-11598D99E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247900"/>
            <a:ext cx="7660339" cy="4099564"/>
          </a:xfrm>
        </p:spPr>
        <p:txBody>
          <a:bodyPr/>
          <a:lstStyle/>
          <a:p>
            <a:pPr marL="347472" indent="-347472" algn="l" rtl="0" eaLnBrk="1" latinLnBrk="0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</a:pPr>
            <a:r>
              <a:rPr lang="en-IN" sz="1800" b="1" i="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Visualization shows predicted Score vs actual scores</a:t>
            </a:r>
            <a:endParaRPr lang="en-IN" sz="1800" dirty="0">
              <a:effectLst/>
            </a:endParaRPr>
          </a:p>
          <a:p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8EE6F-EAA2-4D9F-D5E4-EF5B5B627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3" y="2865120"/>
            <a:ext cx="7223774" cy="336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2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A86B-0162-AF9A-699B-16D30A794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AC8D-5678-61C9-36B5-82D0295E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7F876-4983-726E-678F-12DB6F239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247900"/>
            <a:ext cx="7660339" cy="4099564"/>
          </a:xfrm>
        </p:spPr>
        <p:txBody>
          <a:bodyPr/>
          <a:lstStyle/>
          <a:p>
            <a:pPr algn="l" rtl="0" eaLnBrk="1" latinLnBrk="0" hangingPunct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IN" b="1" i="0" kern="12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Model effectively captures trends in scoring patterns</a:t>
            </a:r>
            <a:endParaRPr lang="en-IN" b="1" dirty="0">
              <a:solidFill>
                <a:schemeClr val="tx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 Some of the Outputs :</a:t>
            </a:r>
          </a:p>
          <a:p>
            <a:pPr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8792D-45CA-9347-E165-8BC79386A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11" y="3215640"/>
            <a:ext cx="3208298" cy="3006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5DE29C-C1B4-FA81-DB4B-7B33E0C3A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294" y="3215640"/>
            <a:ext cx="3246401" cy="300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15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Project Link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41" y="2489200"/>
            <a:ext cx="8542020" cy="3530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/>
                </a:solidFill>
              </a:rPr>
              <a:t>Project </a:t>
            </a:r>
            <a:r>
              <a:rPr lang="en-US" sz="2400" b="1" dirty="0" err="1">
                <a:solidFill>
                  <a:schemeClr val="tx1"/>
                </a:solidFill>
              </a:rPr>
              <a:t>Github</a:t>
            </a:r>
            <a:r>
              <a:rPr lang="en-US" sz="2400" b="1" dirty="0">
                <a:solidFill>
                  <a:schemeClr val="tx1"/>
                </a:solidFill>
              </a:rPr>
              <a:t> Link: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https://github.com/Vivekchary2607/IPL_SCORE_PREDICTION_PROJECT_USING_MACHINE_LEARNING.git 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377440"/>
            <a:ext cx="7340299" cy="22783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</a:rPr>
              <a:t>The </a:t>
            </a:r>
            <a:r>
              <a:rPr lang="en-US" sz="1600" b="1" dirty="0">
                <a:solidFill>
                  <a:schemeClr val="tx1"/>
                </a:solidFill>
              </a:rPr>
              <a:t>IPL Score Prediction</a:t>
            </a:r>
            <a:r>
              <a:rPr lang="en-US" sz="1600" dirty="0">
                <a:solidFill>
                  <a:schemeClr val="tx1"/>
                </a:solidFill>
              </a:rPr>
              <a:t> project successfully demonstrates the application of </a:t>
            </a:r>
            <a:r>
              <a:rPr lang="en-US" sz="1600" b="1" dirty="0">
                <a:solidFill>
                  <a:schemeClr val="tx1"/>
                </a:solidFill>
              </a:rPr>
              <a:t>machine learning and deep learning models</a:t>
            </a:r>
            <a:r>
              <a:rPr lang="en-US" sz="1600" dirty="0">
                <a:solidFill>
                  <a:schemeClr val="tx1"/>
                </a:solidFill>
              </a:rPr>
              <a:t> in forecasting cricket match scores. By leveraging </a:t>
            </a:r>
            <a:r>
              <a:rPr lang="en-US" sz="1600" b="1" dirty="0">
                <a:solidFill>
                  <a:schemeClr val="tx1"/>
                </a:solidFill>
              </a:rPr>
              <a:t>historical match data, player statistics, venue conditions, and advanced predictive algorithms</a:t>
            </a:r>
            <a:r>
              <a:rPr lang="en-US" sz="1600" dirty="0">
                <a:solidFill>
                  <a:schemeClr val="tx1"/>
                </a:solidFill>
              </a:rPr>
              <a:t>, this model provides accurate predictions of IPL scores.</a:t>
            </a:r>
            <a:endParaRPr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B48B-6849-8AEA-A273-D70F5081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70651-5DAC-C596-F96C-5A489E8C7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References</a:t>
            </a:r>
            <a:endParaRPr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D134A5F-57FF-5206-C0BE-6BE6C16F80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678" y="2553179"/>
            <a:ext cx="8351202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Documentation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: 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 Guide — 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1.6.1 documentation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machine learning algorithms, preprocessing techniques, and model evaluation metrics.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Documentation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 Guide — pandas 2.2.3 documentation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data manipulation, cleaning, and analysis.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Documentation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: 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Matplotlib — Visualization with Python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visualization tools for plotting graphs to represent model results.</a:t>
            </a:r>
          </a:p>
          <a:p>
            <a:pPr marL="3429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441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E486-7DCF-2F82-7400-B6C7D93D2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961" y="2009264"/>
            <a:ext cx="7248859" cy="1968376"/>
          </a:xfrm>
        </p:spPr>
        <p:txBody>
          <a:bodyPr/>
          <a:lstStyle/>
          <a:p>
            <a:r>
              <a:rPr lang="en-US" sz="8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You!</a:t>
            </a:r>
            <a:endParaRPr lang="en-IN" sz="8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07578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248</TotalTime>
  <Words>521</Words>
  <Application>Microsoft Office PowerPoint</Application>
  <PresentationFormat>On-screen Show (4:3)</PresentationFormat>
  <Paragraphs>89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Wingdings</vt:lpstr>
      <vt:lpstr>Wingdings 3</vt:lpstr>
      <vt:lpstr>Ion Boardroom</vt:lpstr>
      <vt:lpstr>IPL SCORE PREDICTION USING MACHINE LEARNING</vt:lpstr>
      <vt:lpstr>Project Outline</vt:lpstr>
      <vt:lpstr>Problem Statement</vt:lpstr>
      <vt:lpstr>Proposed Solution</vt:lpstr>
      <vt:lpstr>Proposed Solution</vt:lpstr>
      <vt:lpstr>System Development Approach</vt:lpstr>
      <vt:lpstr>Algorithm &amp; Deployment</vt:lpstr>
      <vt:lpstr>Algorithm &amp; Deployment</vt:lpstr>
      <vt:lpstr>Result</vt:lpstr>
      <vt:lpstr>Result</vt:lpstr>
      <vt:lpstr>Result</vt:lpstr>
      <vt:lpstr>Project Link</vt:lpstr>
      <vt:lpstr>Conclusion</vt:lpstr>
      <vt:lpstr>References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 Supriya</dc:creator>
  <cp:keywords/>
  <dc:description>generated using python-pptx</dc:description>
  <cp:lastModifiedBy>supriya.g267@outlook.com</cp:lastModifiedBy>
  <cp:revision>2</cp:revision>
  <dcterms:created xsi:type="dcterms:W3CDTF">2013-01-27T09:14:16Z</dcterms:created>
  <dcterms:modified xsi:type="dcterms:W3CDTF">2025-05-01T10:35:33Z</dcterms:modified>
  <cp:category/>
</cp:coreProperties>
</file>